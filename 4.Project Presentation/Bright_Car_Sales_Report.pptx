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3266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266A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72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7F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689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091C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A9AC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BA3D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ACD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BB5D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ABBED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Ford</c:v>
                  </c:pt>
                  <c:pt idx="1">
                    <c:v>Chevrolet</c:v>
                  </c:pt>
                  <c:pt idx="2">
                    <c:v>Nissan</c:v>
                  </c:pt>
                  <c:pt idx="3">
                    <c:v>Toyota</c:v>
                  </c:pt>
                  <c:pt idx="4">
                    <c:v>BMW</c:v>
                  </c:pt>
                  <c:pt idx="5">
                    <c:v>Mercedes</c:v>
                  </c:pt>
                  <c:pt idx="6">
                    <c:v>Dodge</c:v>
                  </c:pt>
                  <c:pt idx="7">
                    <c:v>Honda</c:v>
                  </c:pt>
                  <c:pt idx="8">
                    <c:v>Infiniti</c:v>
                  </c:pt>
                  <c:pt idx="9">
                    <c:v>Hyundai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201.9</c:v>
                </c:pt>
                <c:pt idx="1">
                  <c:v>113.6</c:v>
                </c:pt>
                <c:pt idx="2">
                  <c:v>93.6</c:v>
                </c:pt>
                <c:pt idx="3">
                  <c:v>78.7</c:v>
                </c:pt>
                <c:pt idx="4">
                  <c:v>73.1</c:v>
                </c:pt>
                <c:pt idx="5">
                  <c:v>60.2</c:v>
                </c:pt>
                <c:pt idx="6">
                  <c:v>56.9</c:v>
                </c:pt>
                <c:pt idx="7">
                  <c:v>55</c:v>
                </c:pt>
                <c:pt idx="8">
                  <c:v>52.3</c:v>
                </c:pt>
                <c:pt idx="9">
                  <c:v>46.3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3266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Dec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42274</c:v>
                </c:pt>
                <c:pt idx="1">
                  <c:v>3454</c:v>
                </c:pt>
                <c:pt idx="2">
                  <c:v>446</c:v>
                </c:pt>
                <c:pt idx="3">
                  <c:v>11</c:v>
                </c:pt>
                <c:pt idx="4">
                  <c:v>73</c:v>
                </c:pt>
                <c:pt idx="5">
                  <c:v>160</c:v>
                </c:pt>
                <c:pt idx="6">
                  <c:v>62</c:v>
                </c:pt>
                <c:pt idx="7">
                  <c:v>53520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900" b="0" i="0" u="none" strike="noStrike">
                <a:solidFill>
                  <a:srgbClr val="64748B"/>
                </a:solidFill>
                <a:latin typeface="Arial"/>
              </a:rPr>
              <a:t>Revenue by month ($M) — top months only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Dec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561.3</c:v>
                </c:pt>
                <c:pt idx="1">
                  <c:v>47.1</c:v>
                </c:pt>
                <c:pt idx="2">
                  <c:v>5.7</c:v>
                </c:pt>
                <c:pt idx="3">
                  <c:v>604.4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Body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266AD"/>
              </a:solidFill>
              <a:effectLst/>
            </c:spPr>
          </c:dPt>
          <c:dPt>
            <c:idx val="1"/>
            <c:bubble3D val="0"/>
            <c:spPr>
              <a:solidFill>
                <a:srgbClr val="5C9BD6"/>
              </a:solidFill>
              <a:effectLst/>
            </c:spPr>
          </c:dPt>
          <c:dPt>
            <c:idx val="2"/>
            <c:bubble3D val="0"/>
            <c:spPr>
              <a:solidFill>
                <a:srgbClr val="73726C"/>
              </a:solidFill>
              <a:effectLst/>
            </c:spPr>
          </c:dPt>
          <c:dPt>
            <c:idx val="3"/>
            <c:bubble3D val="0"/>
            <c:spPr>
              <a:solidFill>
                <a:srgbClr val="9F9E99"/>
              </a:solidFill>
              <a:effectLst/>
            </c:spPr>
          </c:dPt>
          <c:dPt>
            <c:idx val="4"/>
            <c:bubble3D val="0"/>
            <c:spPr>
              <a:solidFill>
                <a:srgbClr val="B4B2A9"/>
              </a:solidFill>
              <a:effectLst/>
            </c:spPr>
          </c:dPt>
          <c:dPt>
            <c:idx val="5"/>
            <c:bubble3D val="0"/>
            <c:spPr>
              <a:solidFill>
                <a:srgbClr val="D3D1C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Sedan</c:v>
                </c:pt>
                <c:pt idx="1">
                  <c:v>SUV</c:v>
                </c:pt>
                <c:pt idx="2">
                  <c:v>Minivan</c:v>
                </c:pt>
                <c:pt idx="3">
                  <c:v>Hatchback</c:v>
                </c:pt>
                <c:pt idx="4">
                  <c:v>Coupe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42937</c:v>
                </c:pt>
                <c:pt idx="1">
                  <c:v>25563</c:v>
                </c:pt>
                <c:pt idx="2">
                  <c:v>4785</c:v>
                </c:pt>
                <c:pt idx="3">
                  <c:v>4544</c:v>
                </c:pt>
                <c:pt idx="4">
                  <c:v>3282</c:v>
                </c:pt>
                <c:pt idx="5">
                  <c:v>18889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3266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266A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B2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3D1C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Automatic</c:v>
                  </c:pt>
                  <c:pt idx="1">
                    <c:v>Unknown</c:v>
                  </c:pt>
                  <c:pt idx="2">
                    <c:v>Manual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84666</c:v>
                </c:pt>
                <c:pt idx="1">
                  <c:v>12000</c:v>
                </c:pt>
                <c:pt idx="2">
                  <c:v>3334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3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649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259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E69E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A79F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689F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899F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CA</c:v>
                  </c:pt>
                  <c:pt idx="1">
                    <c:v>FL</c:v>
                  </c:pt>
                  <c:pt idx="2">
                    <c:v>PA</c:v>
                  </c:pt>
                  <c:pt idx="3">
                    <c:v>TX</c:v>
                  </c:pt>
                  <c:pt idx="4">
                    <c:v>GA</c:v>
                  </c:pt>
                  <c:pt idx="5">
                    <c:v>IL</c:v>
                  </c:pt>
                  <c:pt idx="6">
                    <c:v>NC</c:v>
                  </c:pt>
                  <c:pt idx="7">
                    <c:v>NJ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16938</c:v>
                </c:pt>
                <c:pt idx="1">
                  <c:v>13562</c:v>
                </c:pt>
                <c:pt idx="2">
                  <c:v>8649</c:v>
                </c:pt>
                <c:pt idx="3">
                  <c:v>7741</c:v>
                </c:pt>
                <c:pt idx="4">
                  <c:v>5754</c:v>
                </c:pt>
                <c:pt idx="5">
                  <c:v>4358</c:v>
                </c:pt>
                <c:pt idx="6">
                  <c:v>4230</c:v>
                </c:pt>
                <c:pt idx="7">
                  <c:v>4195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Vehicles</c:v>
                </c:pt>
              </c:strCache>
            </c:strRef>
          </c:tx>
          <c:spPr>
            <a:solidFill>
              <a:srgbClr val="B4B2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4B2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887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266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C9B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C447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42C5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Under $5K</c:v>
                  </c:pt>
                  <c:pt idx="1">
                    <c:v>$5K–10K</c:v>
                  </c:pt>
                  <c:pt idx="2">
                    <c:v>$10K–20K</c:v>
                  </c:pt>
                  <c:pt idx="3">
                    <c:v>$20K–30K</c:v>
                  </c:pt>
                  <c:pt idx="4">
                    <c:v>$30K–50K</c:v>
                  </c:pt>
                  <c:pt idx="5">
                    <c:v>$50K+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24967</c:v>
                </c:pt>
                <c:pt idx="1">
                  <c:v>20870</c:v>
                </c:pt>
                <c:pt idx="2">
                  <c:v>37713</c:v>
                </c:pt>
                <c:pt idx="3">
                  <c:v>12213</c:v>
                </c:pt>
                <c:pt idx="4">
                  <c:v>3814</c:v>
                </c:pt>
                <c:pt idx="5">
                  <c:v>423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Porsche</c:v>
                  </c:pt>
                  <c:pt idx="1">
                    <c:v>Audi</c:v>
                  </c:pt>
                  <c:pt idx="2">
                    <c:v>Lexus</c:v>
                  </c:pt>
                  <c:pt idx="3">
                    <c:v>Infiniti</c:v>
                  </c:pt>
                  <c:pt idx="4">
                    <c:v>Mercedes</c:v>
                  </c:pt>
                  <c:pt idx="5">
                    <c:v>BMW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52000</c:v>
                </c:pt>
                <c:pt idx="1">
                  <c:v>28500</c:v>
                </c:pt>
                <c:pt idx="2">
                  <c:v>26400</c:v>
                </c:pt>
                <c:pt idx="3">
                  <c:v>19660</c:v>
                </c:pt>
                <c:pt idx="4">
                  <c:v>19770</c:v>
                </c:pt>
                <c:pt idx="5">
                  <c:v>19075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0"/>
            <a:ext cx="73152" cy="5143500"/>
          </a:xfrm>
          <a:prstGeom prst="rect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 SALES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2286000" cy="36576"/>
          </a:xfrm>
          <a:prstGeom prst="rect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88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2014 – Mar 2015  ·  100,000 Transactions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$1.22B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286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100,000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3383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$12,230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64008"/>
          </a:xfrm>
          <a:prstGeom prst="rect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$1.22B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6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makes &amp; models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86868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86868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42032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Sold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42032" y="1847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 on weekdays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86868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868680"/>
            <a:ext cx="20116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$12,230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18304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18304" y="1847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MMR benchmark $12,559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86868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868680"/>
            <a:ext cx="2011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94576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Makes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94576" y="1847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leads at 15,503 units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Highlights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2286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Ford, Chevrolet, and Nissan account for 35% of all units sold — and 33% of total revenue.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3192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2286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Sedans dominate body type mix at 43% of sales; SUVs follow at 26% — together representing 69% of volume.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666744"/>
            <a:ext cx="8412480" cy="329184"/>
          </a:xfrm>
          <a:prstGeom prst="rect">
            <a:avLst/>
          </a:prstGeom>
          <a:noFill/>
          <a:ln/>
        </p:spPr>
        <p:txBody>
          <a:bodyPr wrap="square" lIns="0" tIns="2286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(53,520 units) and January (42,274 units) represent 96% of all transactions, indicating strong seasonal concentration.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0142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2286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selling price ($12,230) sits 2.6% below the MMR benchmark — highlighting competitive, market-driven pricing.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3616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2286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makes (BMW, Mercedes-Benz, Infiniti) average ~$19,500 per unit vs $10,500 for mass-market brands.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Make — Top 10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4864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822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Breakdown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188720"/>
          <a:ext cx="283464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822960"/>
              </a:tblGrid>
              <a:tr h="332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Chevrolet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$10,515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Nissan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$10,886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Toyota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$11,282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Mercedes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$19,770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$10,195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$19,660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Hyundai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$10,973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Sales Volume &amp; Revenue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943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274320" y="3611880"/>
          <a:ext cx="594360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492240" y="86868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0" y="914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66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53,520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583680" y="1344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sales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583680" y="1527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month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6492240" y="19202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66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42,274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6583680" y="2395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sales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583680" y="2578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highest month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492240" y="297180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8368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66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96%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6583680" y="34472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+ Jan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583680" y="3630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transactions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492240" y="402336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66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583680" y="44988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sales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583680" y="4681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0.04% of total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Mix — Body Type &amp; Transmission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 Type Distribution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005840"/>
          <a:ext cx="4389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 Split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754880" y="100584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84632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States by Volume</a:t>
            </a:r>
            <a:endParaRPr lang="en-US" sz="12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4754880" y="3429000"/>
          <a:ext cx="420624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 by Price Bracket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051560"/>
          <a:ext cx="53949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3931920"/>
            <a:ext cx="5394960" cy="1005840"/>
          </a:xfrm>
          <a:prstGeom prst="rect">
            <a:avLst/>
          </a:prstGeom>
          <a:solidFill>
            <a:srgbClr val="EBF0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069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MMR: $12,559  ·  Avg Selling Price: $12,230  ·  Discount to MMR: 2.6%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4389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consistently sold slightly below market benchmark — indicating competitive, buyer-friendly pricing across all segments.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60720" y="804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Price — Premium Makes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577840" y="1051560"/>
          <a:ext cx="33832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57607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Vehicle Colours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897880" y="4315968"/>
            <a:ext cx="457200" cy="4572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60720" y="48280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5760720" y="4974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720840" y="4315968"/>
            <a:ext cx="457200" cy="457200"/>
          </a:xfrm>
          <a:prstGeom prst="ellipse">
            <a:avLst/>
          </a:prstGeom>
          <a:solidFill>
            <a:srgbClr val="C8C6B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83680" y="48280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6583680" y="4974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7543800" y="4315968"/>
            <a:ext cx="457200" cy="457200"/>
          </a:xfrm>
          <a:prstGeom prst="ellipse">
            <a:avLst/>
          </a:prstGeom>
          <a:solidFill>
            <a:srgbClr val="B4B2A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06640" y="48280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7406640" y="4974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8366760" y="4315968"/>
            <a:ext cx="457200" cy="457200"/>
          </a:xfrm>
          <a:prstGeom prst="ellipse">
            <a:avLst/>
          </a:prstGeom>
          <a:solidFill>
            <a:srgbClr val="88878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29600" y="48280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8229600" y="4974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15.0%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60520"/>
            <a:ext cx="9144000" cy="54864"/>
          </a:xfrm>
          <a:prstGeom prst="rect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371600" cy="36576"/>
          </a:xfrm>
          <a:prstGeom prst="rect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47472" cy="347472"/>
          </a:xfrm>
          <a:prstGeom prst="ellipse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1234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Ford, Chevrolet &amp; Nissan drive 35% of volume — anchor inventory and promotions around these three.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347472" cy="347472"/>
          </a:xfrm>
          <a:prstGeom prst="ellipse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1828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concentration is extreme: 96% of sales in December and January. Staff, finance and inventory accordingly.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347472" cy="347472"/>
          </a:xfrm>
          <a:prstGeom prst="ellipse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24231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Sedans &amp; SUVs together represent 69% of revenue — maintaining strong stock in these body types is business-critical.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47472" cy="347472"/>
          </a:xfrm>
          <a:prstGeom prst="ellipse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3017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segment (BMW, Mercedes, Infiniti) yields ~$19,500 avg per unit vs $10,500 mass-market — growing this mix improves margins.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47472" cy="347472"/>
          </a:xfrm>
          <a:prstGeom prst="ellipse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" y="3611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2.6% below MMR benchmark — room to tighten pricing on high-demand models without losing competitiveness.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Car Sales  ·  Performance Report  ·  Dec 2014 – Mar 2015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Car Sales — Performance Report</dc:title>
  <dc:subject>PptxGenJS Presentation</dc:subject>
  <dc:creator>Bright Car Sales</dc:creator>
  <cp:lastModifiedBy>Bright Car Sales</cp:lastModifiedBy>
  <cp:revision>1</cp:revision>
  <dcterms:created xsi:type="dcterms:W3CDTF">2026-05-30T22:48:38Z</dcterms:created>
  <dcterms:modified xsi:type="dcterms:W3CDTF">2026-05-30T22:48:38Z</dcterms:modified>
</cp:coreProperties>
</file>